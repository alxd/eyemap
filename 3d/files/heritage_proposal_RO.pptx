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76A4F36-813A-445F-A5DE-81E98F6D100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053E95-6622-40A5-B349-8D1F2CF2D8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754AC3-A7DF-4C9D-90FB-F883BCD51C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7930A-C9F6-47D8-91CD-76A78F7CFC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5E1BA-386B-4C53-8314-C434D1F04F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5BEB6B-688E-40D3-8284-667BCA7007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46A443-CAB6-4FAD-8A32-B7D40ACBEE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C3086B-B4DA-481E-BEAC-2F1BD8B7A80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A15CFF-A0B7-41A4-98F8-066228AC0A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2F37D0-7CE5-4ED7-82EF-1DC8D7DE60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youtu.be/ZQuhXnyS1Fw" TargetMode="External"/><Relationship Id="rId2" Type="http://schemas.openxmlformats.org/officeDocument/2006/relationships/hyperlink" Target="https://youtu.be/ZQuhXnyS1Fw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e8b8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 0" descr="/home/claude/lidar_scan.png"/>
          <p:cNvPicPr/>
          <p:nvPr/>
        </p:nvPicPr>
        <p:blipFill>
          <a:blip r:embed="rId1">
            <a:alphaModFix amt="65000"/>
          </a:blip>
          <a:stretch/>
        </p:blipFill>
        <p:spPr>
          <a:xfrm>
            <a:off x="3474720" y="73080"/>
            <a:ext cx="5668920" cy="5001480"/>
          </a:xfrm>
          <a:prstGeom prst="rect">
            <a:avLst/>
          </a:prstGeom>
          <a:ln w="0">
            <a:noFill/>
          </a:ln>
        </p:spPr>
      </p:pic>
      <p:sp>
        <p:nvSpPr>
          <p:cNvPr id="11" name="Shape 2"/>
          <p:cNvSpPr/>
          <p:nvPr/>
        </p:nvSpPr>
        <p:spPr>
          <a:xfrm>
            <a:off x="0" y="73080"/>
            <a:ext cx="5028840" cy="5001480"/>
          </a:xfrm>
          <a:prstGeom prst="rect">
            <a:avLst/>
          </a:prstGeom>
          <a:solidFill>
            <a:srgbClr val="0d1b3e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457200" y="320040"/>
            <a:ext cx="2377080" cy="34704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57200" y="3200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MINISTERUL CULTURII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11480" y="84132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  <a:ea typeface="Calibri"/>
              </a:rPr>
              <a:t>Program Național de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  <a:ea typeface="Calibri"/>
              </a:rPr>
              <a:t>Digitizare a Patrimoniului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411480" y="248724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Scanare 3D, procesare și livrare web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la scară națională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411480" y="3456360"/>
            <a:ext cx="1325520" cy="822600"/>
          </a:xfrm>
          <a:prstGeom prst="rect">
            <a:avLst/>
          </a:prstGeom>
          <a:solidFill>
            <a:srgbClr val="007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411480" y="350208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8b86d"/>
                </a:solidFill>
                <a:latin typeface="Calibri"/>
              </a:rPr>
              <a:t>2.000+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411480" y="386784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c4de"/>
                </a:solidFill>
                <a:latin typeface="Calibri"/>
              </a:rPr>
              <a:t>monumente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1920240" y="3456360"/>
            <a:ext cx="1325520" cy="822600"/>
          </a:xfrm>
          <a:prstGeom prst="rect">
            <a:avLst/>
          </a:prstGeom>
          <a:solidFill>
            <a:srgbClr val="007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1920240" y="350208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8b86d"/>
                </a:solidFill>
                <a:latin typeface="Calibri"/>
              </a:rPr>
              <a:t>€</a:t>
            </a:r>
            <a:r>
              <a:rPr b="1" lang="en-US" sz="1800" spc="-1" strike="noStrike">
                <a:solidFill>
                  <a:srgbClr val="e8b86d"/>
                </a:solidFill>
                <a:latin typeface="Calibri"/>
              </a:rPr>
              <a:t>925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1920240" y="386784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c4de"/>
                </a:solidFill>
                <a:latin typeface="Calibri"/>
              </a:rPr>
              <a:t>per scanare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3429000" y="3456360"/>
            <a:ext cx="1325520" cy="822600"/>
          </a:xfrm>
          <a:prstGeom prst="rect">
            <a:avLst/>
          </a:prstGeom>
          <a:solidFill>
            <a:srgbClr val="007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3429000" y="350208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8b86d"/>
                </a:solidFill>
                <a:latin typeface="Calibri"/>
              </a:rPr>
              <a:t>18 luni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3429000" y="386784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c4de"/>
                </a:solidFill>
                <a:latin typeface="Calibri"/>
              </a:rPr>
              <a:t>livrare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411480" y="44805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</a:rPr>
              <a:t>eyemap.ai  |  2025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d1b3e"/>
                </a:solidFill>
                <a:latin typeface="Calibri"/>
              </a:rPr>
              <a:t>Expertiză Bazată pe Cercetare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960120"/>
            <a:ext cx="3931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Platforma noastră integrează un deceniu de cercetare academică și aplicată în digitizare 3D, conectând știința patrimoniului cu tehnologia scalabilă.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457200" y="1993320"/>
            <a:ext cx="63720" cy="59400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640080" y="19933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3e"/>
                </a:solidFill>
                <a:latin typeface="Calibri"/>
              </a:rPr>
              <a:t>Cercetare doctorală, 2010–2016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640080" y="2249280"/>
            <a:ext cx="3748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Universitatea Chalmers din Gothenburg, Suedia — Proiectul DIVA (CRS4 / Chalmers). Focus: reconstrucție 3D, vizualizare interactivă și setup-uri de scanare la cost redus.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457200" y="2889360"/>
            <a:ext cx="63720" cy="59400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640080" y="28893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3e"/>
                </a:solidFill>
                <a:latin typeface="Calibri"/>
              </a:rPr>
              <a:t>Lucrare publicată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640080" y="3145680"/>
            <a:ext cx="3748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"Low-cost Experimental Setups for Mid-air 3D Reconstruction" — Eurographics 2015. A scanat o statuie de 23m folosind o dronă octocopter și biblioteci open-source.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457200" y="3785760"/>
            <a:ext cx="63720" cy="59400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640080" y="37857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3e"/>
                </a:solidFill>
                <a:latin typeface="Calibri"/>
              </a:rPr>
              <a:t>Platformă aplicată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640080" y="4041720"/>
            <a:ext cx="3748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Eyemap.ai — viewer 3D scalabil bazat pe Potree, testat pe monumente reale din România.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Image 0" descr="/home/claude/viewer_demo.png"/>
          <p:cNvPicPr/>
          <p:nvPr/>
        </p:nvPicPr>
        <p:blipFill>
          <a:blip r:embed="rId1"/>
          <a:stretch/>
        </p:blipFill>
        <p:spPr>
          <a:xfrm>
            <a:off x="4663440" y="822960"/>
            <a:ext cx="4114440" cy="3200040"/>
          </a:xfrm>
          <a:prstGeom prst="rect">
            <a:avLst/>
          </a:prstGeom>
          <a:ln w="0">
            <a:noFill/>
          </a:ln>
        </p:spPr>
      </p:pic>
      <p:sp>
        <p:nvSpPr>
          <p:cNvPr id="39" name="Shape 12"/>
          <p:cNvSpPr/>
          <p:nvPr/>
        </p:nvSpPr>
        <p:spPr>
          <a:xfrm>
            <a:off x="4663440" y="822960"/>
            <a:ext cx="4114440" cy="3200040"/>
          </a:xfrm>
          <a:prstGeom prst="rect">
            <a:avLst/>
          </a:prstGeom>
          <a:solidFill>
            <a:srgbClr val="0d1b3e">
              <a:alpha val="10000"/>
            </a:srgbClr>
          </a:solidFill>
          <a:ln w="190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4663440" y="41148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Demo live 3D Viewer 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eyemap.ai | Propunere Digitizare Patrimoniu 2025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8b8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457200" y="182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Fundament Academic — Lucrare Publicată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365760" y="868680"/>
            <a:ext cx="4114440" cy="347436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365760" y="868680"/>
            <a:ext cx="4114440" cy="54360"/>
          </a:xfrm>
          <a:prstGeom prst="rect">
            <a:avLst/>
          </a:prstGeom>
          <a:solidFill>
            <a:srgbClr val="e8b8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502920" y="10058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e8b86d"/>
                </a:solidFill>
                <a:latin typeface="Calibri"/>
              </a:rPr>
              <a:t>EUROGRAPHICS 2015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502920" y="1325880"/>
            <a:ext cx="3840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Setups experimentale la cost redus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pentru reconstrucție 3D aeriană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502920" y="2176200"/>
            <a:ext cx="3840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4de"/>
                </a:solidFill>
                <a:latin typeface="Calibri"/>
              </a:rPr>
              <a:t>Dancu, Fratarcangeli, Fourgeaud, Franjcic,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4de"/>
                </a:solidFill>
                <a:latin typeface="Calibri"/>
              </a:rPr>
              <a:t>Chindea, Fjeld  —  The Eurographics Association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502920" y="2743200"/>
            <a:ext cx="3840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8d8e8"/>
                </a:solidFill>
                <a:latin typeface="Calibri"/>
              </a:rPr>
              <a:t>Rezultat cheie: reconstrucție completă a unei statui de 23m folosind dronă octocopter, componente embedded la preț redus și biblioteci open-source — fără hardware extern.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502920" y="37033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a896"/>
                </a:solidFill>
                <a:latin typeface="Calibri"/>
              </a:rPr>
              <a:t>DOI: 10.2312/stag.20151286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502920" y="404172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Proiect DIVA — CRS4 / Chalmers Univ. of Technology, Gothenburg, Suedia  |  2010–2016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4754880" y="868680"/>
            <a:ext cx="4023000" cy="255996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6263640" y="1737360"/>
            <a:ext cx="731160" cy="731160"/>
          </a:xfr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6263640" y="17373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▶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4754880" y="27432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Vizionează Demo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4">
            <a:hlinkClick r:id="rId1"/>
          </p:cNvPr>
          <p:cNvSpPr/>
          <p:nvPr/>
        </p:nvSpPr>
        <p:spPr>
          <a:xfrm>
            <a:off x="4754880" y="306324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 u="sng">
                <a:solidFill>
                  <a:srgbClr val="00a896"/>
                </a:solidFill>
                <a:uFillTx/>
                <a:latin typeface="Calibri"/>
                <a:hlinkClick r:id="rId2"/>
              </a:rPr>
              <a:t>youtu.be/ZQuhXnyS1Fw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4754880" y="338328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Reconstrucție 3D aeriană cu senzor de adâncime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+ dronă octocopter — Eurographics 2015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4754880" y="4114800"/>
            <a:ext cx="4023000" cy="502560"/>
          </a:xfrm>
          <a:prstGeom prst="rect">
            <a:avLst/>
          </a:prstGeom>
          <a:solidFill>
            <a:srgbClr val="007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4754880" y="41148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Proiect DIVA — CRS4 / Universitatea Chalmers din Gothenburg, Suedia 2010–2016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eyemap.ai | Propunere Digitizare Patrimoniu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d1b3e"/>
                </a:solidFill>
                <a:latin typeface="Calibri"/>
              </a:rPr>
              <a:t>Tipuri de Scanare și Prețuri per Model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457200" y="777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Fiecare preț include captură, procesare/curățare, QA și livrare pe platforma de vizualizare.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274320" y="1234440"/>
            <a:ext cx="2011320" cy="3474360"/>
          </a:xfrm>
          <a:prstGeom prst="rect">
            <a:avLst/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274320" y="1234440"/>
            <a:ext cx="2011320" cy="5025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274320" y="1481400"/>
            <a:ext cx="2011320" cy="255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27432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TIP 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47400" y="18288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Monumente mari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347400" y="21488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Clădiri, situri, exterior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347400" y="242316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LiDAR dronă + fotogrametrie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365760" y="283464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Captură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1280160" y="2834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500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365760" y="31546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Procesare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1280160" y="315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250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365760" y="34747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QA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1280160" y="3474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125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365760" y="3813120"/>
            <a:ext cx="1828440" cy="180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365760" y="38588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Calibri"/>
              </a:rPr>
              <a:t>TOTAL / SCANARE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1051560" y="385884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0392b"/>
                </a:solidFill>
                <a:latin typeface="Calibri"/>
              </a:rPr>
              <a:t>€</a:t>
            </a:r>
            <a:r>
              <a:rPr b="1" lang="en-US" sz="1600" spc="-1" strike="noStrike">
                <a:solidFill>
                  <a:srgbClr val="c0392b"/>
                </a:solidFill>
                <a:latin typeface="Calibri"/>
              </a:rPr>
              <a:t>875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2441520" y="1234440"/>
            <a:ext cx="2011320" cy="3474360"/>
          </a:xfrm>
          <a:prstGeom prst="rect">
            <a:avLst/>
          </a:prstGeom>
          <a:solidFill>
            <a:srgbClr val="e8f8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2441520" y="1234440"/>
            <a:ext cx="2011320" cy="50256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1"/>
          <p:cNvSpPr/>
          <p:nvPr/>
        </p:nvSpPr>
        <p:spPr>
          <a:xfrm>
            <a:off x="2441520" y="1481400"/>
            <a:ext cx="2011320" cy="25560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244152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TIP 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2514600" y="18288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d9e75"/>
                </a:solidFill>
                <a:latin typeface="Calibri"/>
              </a:rPr>
              <a:t>Obiecte mici (&lt;1m)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2514600" y="21488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Vase, artefacte, piese muzeu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5"/>
          <p:cNvSpPr/>
          <p:nvPr/>
        </p:nvSpPr>
        <p:spPr>
          <a:xfrm>
            <a:off x="2514600" y="242316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Studio, masă rotativă automată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6"/>
          <p:cNvSpPr/>
          <p:nvPr/>
        </p:nvSpPr>
        <p:spPr>
          <a:xfrm>
            <a:off x="2532960" y="283464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Captură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7"/>
          <p:cNvSpPr/>
          <p:nvPr/>
        </p:nvSpPr>
        <p:spPr>
          <a:xfrm>
            <a:off x="3447360" y="2834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8"/>
          <p:cNvSpPr/>
          <p:nvPr/>
        </p:nvSpPr>
        <p:spPr>
          <a:xfrm>
            <a:off x="2532960" y="31546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Procesare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9"/>
          <p:cNvSpPr/>
          <p:nvPr/>
        </p:nvSpPr>
        <p:spPr>
          <a:xfrm>
            <a:off x="3447360" y="315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0"/>
          <p:cNvSpPr/>
          <p:nvPr/>
        </p:nvSpPr>
        <p:spPr>
          <a:xfrm>
            <a:off x="2532960" y="34747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QA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1"/>
          <p:cNvSpPr/>
          <p:nvPr/>
        </p:nvSpPr>
        <p:spPr>
          <a:xfrm>
            <a:off x="3447360" y="3474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2"/>
          <p:cNvSpPr/>
          <p:nvPr/>
        </p:nvSpPr>
        <p:spPr>
          <a:xfrm>
            <a:off x="2532960" y="3813120"/>
            <a:ext cx="1828440" cy="1800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3"/>
          <p:cNvSpPr/>
          <p:nvPr/>
        </p:nvSpPr>
        <p:spPr>
          <a:xfrm>
            <a:off x="2532960" y="38588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Calibri"/>
              </a:rPr>
              <a:t>TOTAL / SCANARE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34"/>
          <p:cNvSpPr/>
          <p:nvPr/>
        </p:nvSpPr>
        <p:spPr>
          <a:xfrm>
            <a:off x="3218760" y="385884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d9e75"/>
                </a:solidFill>
                <a:latin typeface="Calibri"/>
              </a:rPr>
              <a:t>€</a:t>
            </a:r>
            <a:r>
              <a:rPr b="1" lang="en-US" sz="1600" spc="-1" strike="noStrike">
                <a:solidFill>
                  <a:srgbClr val="1d9e75"/>
                </a:solidFill>
                <a:latin typeface="Calibri"/>
              </a:rPr>
              <a:t>20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35"/>
          <p:cNvSpPr/>
          <p:nvPr/>
        </p:nvSpPr>
        <p:spPr>
          <a:xfrm>
            <a:off x="4608720" y="1234440"/>
            <a:ext cx="2011320" cy="3474360"/>
          </a:xfrm>
          <a:prstGeom prst="rect">
            <a:avLst/>
          </a:prstGeom>
          <a:solidFill>
            <a:srgbClr val="fef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36"/>
          <p:cNvSpPr/>
          <p:nvPr/>
        </p:nvSpPr>
        <p:spPr>
          <a:xfrm>
            <a:off x="4608720" y="1234440"/>
            <a:ext cx="2011320" cy="502560"/>
          </a:xfrm>
          <a:prstGeom prst="rect">
            <a:avLst/>
          </a:prstGeom>
          <a:solidFill>
            <a:srgbClr val="ba75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37"/>
          <p:cNvSpPr/>
          <p:nvPr/>
        </p:nvSpPr>
        <p:spPr>
          <a:xfrm>
            <a:off x="4608720" y="1481400"/>
            <a:ext cx="2011320" cy="255600"/>
          </a:xfrm>
          <a:prstGeom prst="rect">
            <a:avLst/>
          </a:prstGeom>
          <a:solidFill>
            <a:srgbClr val="ba75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38"/>
          <p:cNvSpPr/>
          <p:nvPr/>
        </p:nvSpPr>
        <p:spPr>
          <a:xfrm>
            <a:off x="460872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TIP 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39"/>
          <p:cNvSpPr/>
          <p:nvPr/>
        </p:nvSpPr>
        <p:spPr>
          <a:xfrm>
            <a:off x="4681800" y="18288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a7517"/>
                </a:solidFill>
                <a:latin typeface="Calibri"/>
              </a:rPr>
              <a:t>Dimensiune umană (1–2m)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0"/>
          <p:cNvSpPr/>
          <p:nvPr/>
        </p:nvSpPr>
        <p:spPr>
          <a:xfrm>
            <a:off x="4681800" y="21488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Statui, busturi, echipamente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1"/>
          <p:cNvSpPr/>
          <p:nvPr/>
        </p:nvSpPr>
        <p:spPr>
          <a:xfrm>
            <a:off x="4681800" y="242316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Scanare interior/exterior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2"/>
          <p:cNvSpPr/>
          <p:nvPr/>
        </p:nvSpPr>
        <p:spPr>
          <a:xfrm>
            <a:off x="4700160" y="283464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Captură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3"/>
          <p:cNvSpPr/>
          <p:nvPr/>
        </p:nvSpPr>
        <p:spPr>
          <a:xfrm>
            <a:off x="5614560" y="2834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40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4"/>
          <p:cNvSpPr/>
          <p:nvPr/>
        </p:nvSpPr>
        <p:spPr>
          <a:xfrm>
            <a:off x="4700160" y="31546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Procesare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45"/>
          <p:cNvSpPr/>
          <p:nvPr/>
        </p:nvSpPr>
        <p:spPr>
          <a:xfrm>
            <a:off x="5614560" y="315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50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6"/>
          <p:cNvSpPr/>
          <p:nvPr/>
        </p:nvSpPr>
        <p:spPr>
          <a:xfrm>
            <a:off x="4700160" y="34747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QA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7"/>
          <p:cNvSpPr/>
          <p:nvPr/>
        </p:nvSpPr>
        <p:spPr>
          <a:xfrm>
            <a:off x="5614560" y="3474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48"/>
          <p:cNvSpPr/>
          <p:nvPr/>
        </p:nvSpPr>
        <p:spPr>
          <a:xfrm>
            <a:off x="4700160" y="3813120"/>
            <a:ext cx="1828440" cy="18000"/>
          </a:xfrm>
          <a:prstGeom prst="rect">
            <a:avLst/>
          </a:prstGeom>
          <a:solidFill>
            <a:srgbClr val="ba75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49"/>
          <p:cNvSpPr/>
          <p:nvPr/>
        </p:nvSpPr>
        <p:spPr>
          <a:xfrm>
            <a:off x="4700160" y="38588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Calibri"/>
              </a:rPr>
              <a:t>TOTAL / SCANARE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0"/>
          <p:cNvSpPr/>
          <p:nvPr/>
        </p:nvSpPr>
        <p:spPr>
          <a:xfrm>
            <a:off x="5385960" y="385884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a7517"/>
                </a:solidFill>
                <a:latin typeface="Calibri"/>
              </a:rPr>
              <a:t>€</a:t>
            </a:r>
            <a:r>
              <a:rPr b="1" lang="en-US" sz="1600" spc="-1" strike="noStrike">
                <a:solidFill>
                  <a:srgbClr val="ba7517"/>
                </a:solidFill>
                <a:latin typeface="Calibri"/>
              </a:rPr>
              <a:t>110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1"/>
          <p:cNvSpPr/>
          <p:nvPr/>
        </p:nvSpPr>
        <p:spPr>
          <a:xfrm>
            <a:off x="6775560" y="1234440"/>
            <a:ext cx="2011320" cy="3474360"/>
          </a:xfrm>
          <a:prstGeom prst="rect">
            <a:avLst/>
          </a:prstGeom>
          <a:solidFill>
            <a:srgbClr val="eaf3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2"/>
          <p:cNvSpPr/>
          <p:nvPr/>
        </p:nvSpPr>
        <p:spPr>
          <a:xfrm>
            <a:off x="6775560" y="1234440"/>
            <a:ext cx="2011320" cy="502560"/>
          </a:xfrm>
          <a:prstGeom prst="rect">
            <a:avLst/>
          </a:prstGeom>
          <a:solidFill>
            <a:srgbClr val="185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53"/>
          <p:cNvSpPr/>
          <p:nvPr/>
        </p:nvSpPr>
        <p:spPr>
          <a:xfrm>
            <a:off x="6775560" y="1481400"/>
            <a:ext cx="2011320" cy="255600"/>
          </a:xfrm>
          <a:prstGeom prst="rect">
            <a:avLst/>
          </a:prstGeom>
          <a:solidFill>
            <a:srgbClr val="185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4"/>
          <p:cNvSpPr/>
          <p:nvPr/>
        </p:nvSpPr>
        <p:spPr>
          <a:xfrm>
            <a:off x="677556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TIP 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55"/>
          <p:cNvSpPr/>
          <p:nvPr/>
        </p:nvSpPr>
        <p:spPr>
          <a:xfrm>
            <a:off x="6849000" y="18288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5fa5"/>
                </a:solidFill>
                <a:latin typeface="Calibri"/>
              </a:rPr>
              <a:t>Statui medii (&lt;5m)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56"/>
          <p:cNvSpPr/>
          <p:nvPr/>
        </p:nvSpPr>
        <p:spPr>
          <a:xfrm>
            <a:off x="6849000" y="21488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Monumente, sculpturi exterioare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57"/>
          <p:cNvSpPr/>
          <p:nvPr/>
        </p:nvSpPr>
        <p:spPr>
          <a:xfrm>
            <a:off x="6849000" y="242316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Sol + dronă mică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58"/>
          <p:cNvSpPr/>
          <p:nvPr/>
        </p:nvSpPr>
        <p:spPr>
          <a:xfrm>
            <a:off x="6867000" y="283464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Captură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59"/>
          <p:cNvSpPr/>
          <p:nvPr/>
        </p:nvSpPr>
        <p:spPr>
          <a:xfrm>
            <a:off x="7781400" y="2834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120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0"/>
          <p:cNvSpPr/>
          <p:nvPr/>
        </p:nvSpPr>
        <p:spPr>
          <a:xfrm>
            <a:off x="6867000" y="31546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Procesare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61"/>
          <p:cNvSpPr/>
          <p:nvPr/>
        </p:nvSpPr>
        <p:spPr>
          <a:xfrm>
            <a:off x="7781400" y="315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100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62"/>
          <p:cNvSpPr/>
          <p:nvPr/>
        </p:nvSpPr>
        <p:spPr>
          <a:xfrm>
            <a:off x="6867000" y="34747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QA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3"/>
          <p:cNvSpPr/>
          <p:nvPr/>
        </p:nvSpPr>
        <p:spPr>
          <a:xfrm>
            <a:off x="7781400" y="3474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€</a:t>
            </a:r>
            <a:r>
              <a:rPr b="1" lang="en-US" sz="1000" spc="-1" strike="noStrike">
                <a:solidFill>
                  <a:srgbClr val="0d1b3e"/>
                </a:solidFill>
                <a:latin typeface="Calibri"/>
              </a:rPr>
              <a:t>30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64"/>
          <p:cNvSpPr/>
          <p:nvPr/>
        </p:nvSpPr>
        <p:spPr>
          <a:xfrm>
            <a:off x="6867000" y="3813120"/>
            <a:ext cx="1828440" cy="18000"/>
          </a:xfrm>
          <a:prstGeom prst="rect">
            <a:avLst/>
          </a:prstGeom>
          <a:solidFill>
            <a:srgbClr val="185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65"/>
          <p:cNvSpPr/>
          <p:nvPr/>
        </p:nvSpPr>
        <p:spPr>
          <a:xfrm>
            <a:off x="6867000" y="38588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Calibri"/>
              </a:rPr>
              <a:t>TOTAL / SCANARE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66"/>
          <p:cNvSpPr/>
          <p:nvPr/>
        </p:nvSpPr>
        <p:spPr>
          <a:xfrm>
            <a:off x="7552800" y="385884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85fa5"/>
                </a:solidFill>
                <a:latin typeface="Calibri"/>
              </a:rPr>
              <a:t>€</a:t>
            </a:r>
            <a:r>
              <a:rPr b="1" lang="en-US" sz="1600" spc="-1" strike="noStrike">
                <a:solidFill>
                  <a:srgbClr val="185fa5"/>
                </a:solidFill>
                <a:latin typeface="Calibri"/>
              </a:rPr>
              <a:t>250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67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eyemap.ai | Propunere Digitizare Patrimoniu 2025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8b8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Platformă de Vizualizare și Servicii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8686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b86d"/>
                </a:solidFill>
                <a:latin typeface="Calibri"/>
              </a:rPr>
              <a:t>Dincolo de scanare — un ecosistem complet de livrare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457200" y="1463040"/>
            <a:ext cx="228240" cy="228240"/>
          </a:xfr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777240" y="137160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Viewer 3D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777240" y="16459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4de"/>
                </a:solidFill>
                <a:latin typeface="Calibri"/>
              </a:rPr>
              <a:t>Web și mobil, fără plugin-uri. Nori de puncte de peste 1 miliard de puncte redate în timp real.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457200" y="2148840"/>
            <a:ext cx="228240" cy="228240"/>
          </a:xfr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777240" y="205740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Curățare model și generare mesh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777240" y="23317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4de"/>
                </a:solidFill>
                <a:latin typeface="Calibri"/>
              </a:rPr>
              <a:t>Pipeline complet: eliminare zgomot, decimare, UV mapping, texture baking.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457200" y="2834640"/>
            <a:ext cx="228240" cy="228240"/>
          </a:xfr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777240" y="274320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Cloudflare R2 + livrare CDN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777240" y="30175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4de"/>
                </a:solidFill>
                <a:latin typeface="Calibri"/>
              </a:rPr>
              <a:t>Distribuție globală. Infrastructură 3 ani inclusă. €5.000 total.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457200" y="3520440"/>
            <a:ext cx="228240" cy="228240"/>
          </a:xfr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777240" y="342900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Sistem de metadate și catalog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777240" y="37033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4de"/>
                </a:solidFill>
                <a:latin typeface="Calibri"/>
              </a:rPr>
              <a:t>Fiecare model etichetat cu coordonate GPS, tip, epocă, stare — inventar național căutabil.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457200" y="4206240"/>
            <a:ext cx="228240" cy="228240"/>
          </a:xfr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777240" y="411480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Export XR / 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777240" y="43891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c4de"/>
                </a:solidFill>
                <a:latin typeface="Calibri"/>
              </a:rPr>
              <a:t>Fiecare model exportabil în GLTF/GLB pentru realitate augmentată și kioscuri muzeale.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Image 0" descr="/home/claude/viewer_demo.png"/>
          <p:cNvPicPr/>
          <p:nvPr/>
        </p:nvPicPr>
        <p:blipFill>
          <a:blip r:embed="rId1"/>
          <a:stretch/>
        </p:blipFill>
        <p:spPr>
          <a:xfrm>
            <a:off x="4846320" y="777240"/>
            <a:ext cx="3931560" cy="3017160"/>
          </a:xfrm>
          <a:prstGeom prst="rect">
            <a:avLst/>
          </a:prstGeom>
          <a:ln w="0">
            <a:noFill/>
          </a:ln>
        </p:spPr>
      </p:pic>
      <p:sp>
        <p:nvSpPr>
          <p:cNvPr id="148" name="Shape 18"/>
          <p:cNvSpPr/>
          <p:nvPr/>
        </p:nvSpPr>
        <p:spPr>
          <a:xfrm>
            <a:off x="4846320" y="777240"/>
            <a:ext cx="3931560" cy="3017160"/>
          </a:xfrm>
          <a:prstGeom prst="rect">
            <a:avLst/>
          </a:prstGeom>
          <a:solidFill>
            <a:srgbClr val="0d1b3e">
              <a:alpha val="20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4846320" y="38862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Eyemap.ai — demo live viewer 3D monument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0"/>
          <p:cNvSpPr/>
          <p:nvPr/>
        </p:nvSpPr>
        <p:spPr>
          <a:xfrm>
            <a:off x="4846320" y="4206240"/>
            <a:ext cx="3931560" cy="822600"/>
          </a:xfrm>
          <a:prstGeom prst="rect">
            <a:avLst/>
          </a:prstGeom>
          <a:solidFill>
            <a:srgbClr val="007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4937760" y="42519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Pachet vizualizare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2"/>
          <p:cNvSpPr/>
          <p:nvPr/>
        </p:nvSpPr>
        <p:spPr>
          <a:xfrm>
            <a:off x="4937760" y="452628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0c4de"/>
                </a:solidFill>
                <a:latin typeface="Calibri"/>
              </a:rPr>
              <a:t>Inclus în prețul scanării + €90.000 dev platformă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0c4de"/>
                </a:solidFill>
                <a:latin typeface="Calibri"/>
              </a:rPr>
              <a:t>Infrastructură 3 ani: €5.000  |  CDN livrare globală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3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eyemap.ai | Propunere Digitizare Patrimoniu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age 0" descr="/home/claude/lidar_scan.png"/>
          <p:cNvPicPr/>
          <p:nvPr/>
        </p:nvPicPr>
        <p:blipFill>
          <a:blip r:embed="rId1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5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d1b3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3e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457200" y="1371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Calibri"/>
              </a:rPr>
              <a:t>Tip A — Demo Scanare Aeriană LiDAR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457200" y="71316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a896"/>
                </a:solidFill>
                <a:latin typeface="Calibri"/>
              </a:rPr>
              <a:t>Nor de puncte capturat la monumente.vercel.app/examples/viewer.html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0" y="3840480"/>
            <a:ext cx="9143640" cy="1298160"/>
          </a:xfrm>
          <a:prstGeom prst="rect">
            <a:avLst/>
          </a:prstGeom>
          <a:solidFill>
            <a:srgbClr val="0d1b3e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365760" y="39135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a896"/>
                </a:solidFill>
                <a:latin typeface="Calibri"/>
              </a:rPr>
              <a:t>Echipament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365760" y="41695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Dronă si senzor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2084760" y="39135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a896"/>
                </a:solidFill>
                <a:latin typeface="Calibri"/>
              </a:rPr>
              <a:t>Acoperire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2084760" y="41695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Sit complet + context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3803760" y="39135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a896"/>
                </a:solidFill>
                <a:latin typeface="Calibri"/>
              </a:rPr>
              <a:t>Densitate puncte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3803760" y="41695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&gt;50 pts/m²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5523120" y="39135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a896"/>
                </a:solidFill>
                <a:latin typeface="Calibri"/>
              </a:rPr>
              <a:t>Procesare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5523120" y="41695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  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7242120" y="39135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a896"/>
                </a:solidFill>
                <a:latin typeface="Calibri"/>
              </a:rPr>
              <a:t>Livrare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7242120" y="41695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Viewer web, fără plugin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365760" y="466344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Bazat pe cercetarea realizată la Universitatea Chalmers din Gothenburg — Proiectul DIVA 2010–2016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d1b3e"/>
                </a:solidFill>
                <a:latin typeface="Calibri"/>
              </a:rPr>
              <a:t>Calitate, Expertiză și Performanță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274320" y="960120"/>
            <a:ext cx="2697120" cy="159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274320" y="960120"/>
            <a:ext cx="72720" cy="159984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438840" y="106992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LiDAR + Fotogrametrie combinat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438840" y="1463040"/>
            <a:ext cx="2422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LiDAR sol pentru geometrie precisă, fotogrametrie dronă pentru textură și context. Fiecare model validat încrucișat.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3173040" y="960120"/>
            <a:ext cx="2697120" cy="159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3173040" y="960120"/>
            <a:ext cx="72720" cy="1599840"/>
          </a:xfrm>
          <a:prstGeom prst="rect">
            <a:avLst/>
          </a:prstGeom>
          <a:solidFill>
            <a:srgbClr val="185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3337560" y="106992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Debit industrial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3337560" y="1463040"/>
            <a:ext cx="2422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2 echipe de teren: 10–12 monumente/zi. Pipeline studio: 50–150 obiecte mici/zi. 2.000 monumente în 18 luni.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6071760" y="960120"/>
            <a:ext cx="2697120" cy="159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6071760" y="960120"/>
            <a:ext cx="72720" cy="1599840"/>
          </a:xfrm>
          <a:prstGeom prst="rect">
            <a:avLst/>
          </a:prstGeom>
          <a:solidFill>
            <a:srgbClr val="6d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6236280" y="106992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Lanț de procesare la nivel doctoral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6236280" y="1463040"/>
            <a:ext cx="2422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Fiecare model parcurge: eliminare zgomot → registrare → mesh → textură → LOD → conversie Potree → QA.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274320" y="2743200"/>
            <a:ext cx="2697120" cy="159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274320" y="2743200"/>
            <a:ext cx="72720" cy="15998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438840" y="285300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Infrastructură la scară națională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438840" y="3246120"/>
            <a:ext cx="2422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Cloudflare R2 + CDN. SLA 3 ani. Timpi de încărcare sub o secundă global. Mobile-ready. Fără plugin.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8"/>
          <p:cNvSpPr/>
          <p:nvPr/>
        </p:nvSpPr>
        <p:spPr>
          <a:xfrm>
            <a:off x="3173040" y="2743200"/>
            <a:ext cx="2697120" cy="159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9"/>
          <p:cNvSpPr/>
          <p:nvPr/>
        </p:nvSpPr>
        <p:spPr>
          <a:xfrm>
            <a:off x="3173040" y="2743200"/>
            <a:ext cx="72720" cy="1599840"/>
          </a:xfrm>
          <a:prstGeom prst="rect">
            <a:avLst/>
          </a:prstGeom>
          <a:solidFill>
            <a:srgbClr val="ba75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3337560" y="285300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Standarde deschise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3337560" y="3246120"/>
            <a:ext cx="2422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Output: LAS/LAZ, PLY, OBJ, GLTF/GLB, Potree octree. Fără vendor lock-in. Interoperabil cu sisteme GIS.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2"/>
          <p:cNvSpPr/>
          <p:nvPr/>
        </p:nvSpPr>
        <p:spPr>
          <a:xfrm>
            <a:off x="6071760" y="2743200"/>
            <a:ext cx="2697120" cy="159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6071760" y="2743200"/>
            <a:ext cx="72720" cy="159984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4"/>
          <p:cNvSpPr/>
          <p:nvPr/>
        </p:nvSpPr>
        <p:spPr>
          <a:xfrm>
            <a:off x="6236280" y="285300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Proveniență documentată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6236280" y="3246120"/>
            <a:ext cx="2422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GPS, dată-stampilă, stare documentată. Alimentează direct Registrul National al Monumentelor (LMI).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6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eyemap.ai | Propunere Digitizare Patrimoniu 2025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d1b3e"/>
                </a:solidFill>
                <a:latin typeface="Calibri"/>
              </a:rPr>
              <a:t>Buget de Proiect și Calendar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0" name="Table 0"/>
          <p:cNvGraphicFramePr/>
          <p:nvPr/>
        </p:nvGraphicFramePr>
        <p:xfrm>
          <a:off x="365760" y="914400"/>
          <a:ext cx="4114440" cy="347436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Categorie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Cost (€)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Achiziție (scanare)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1.000.000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Procesare și curățare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500.000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Echipamente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220.000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Dezvoltare platformă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90.000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Cazare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120.000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Transport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60.000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Diurnă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75.000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Infrastructură (3 ani)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TOTAL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a896"/>
                          </a:solidFill>
                          <a:latin typeface="Calibri"/>
                          <a:ea typeface="Calibri"/>
                        </a:rPr>
                        <a:t>1.850.000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1d5db"/>
                      </a:solidFill>
                      <a:prstDash val="solid"/>
                    </a:lnL>
                    <a:lnR w="6480">
                      <a:solidFill>
                        <a:srgbClr val="d1d5db"/>
                      </a:solidFill>
                      <a:prstDash val="solid"/>
                    </a:lnR>
                    <a:lnT w="6480">
                      <a:solidFill>
                        <a:srgbClr val="d1d5db"/>
                      </a:solidFill>
                      <a:prstDash val="solid"/>
                    </a:lnT>
                    <a:lnB w="648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Text 2"/>
          <p:cNvSpPr/>
          <p:nvPr/>
        </p:nvSpPr>
        <p:spPr>
          <a:xfrm>
            <a:off x="4754880" y="9144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3e"/>
                </a:solidFill>
                <a:latin typeface="Calibri"/>
              </a:rPr>
              <a:t>Plan de Livrare în 18 Luni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4754880" y="1417320"/>
            <a:ext cx="1325520" cy="456840"/>
          </a:xfrm>
          <a:prstGeom prst="rect">
            <a:avLst/>
          </a:prstGeom>
          <a:solidFill>
            <a:srgbClr val="185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4800600" y="14173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Prototip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4800600" y="164592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8ff"/>
                </a:solidFill>
                <a:latin typeface="Calibri"/>
              </a:rPr>
              <a:t>3 luni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6126480" y="1417320"/>
            <a:ext cx="1782720" cy="45684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6172200" y="14173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Pilot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6172200" y="164592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8ff"/>
                </a:solidFill>
                <a:latin typeface="Calibri"/>
              </a:rPr>
              <a:t>6 luni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9"/>
          <p:cNvSpPr/>
          <p:nvPr/>
        </p:nvSpPr>
        <p:spPr>
          <a:xfrm>
            <a:off x="7955280" y="1417320"/>
            <a:ext cx="3611520" cy="45684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0"/>
          <p:cNvSpPr/>
          <p:nvPr/>
        </p:nvSpPr>
        <p:spPr>
          <a:xfrm>
            <a:off x="8001000" y="141732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Producție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8001000" y="164592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8ff"/>
                </a:solidFill>
                <a:latin typeface="Calibri"/>
              </a:rPr>
              <a:t>9 luni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2"/>
          <p:cNvSpPr/>
          <p:nvPr/>
        </p:nvSpPr>
        <p:spPr>
          <a:xfrm>
            <a:off x="4754880" y="2011680"/>
            <a:ext cx="54360" cy="594000"/>
          </a:xfrm>
          <a:prstGeom prst="rect">
            <a:avLst/>
          </a:prstGeom>
          <a:solidFill>
            <a:srgbClr val="185f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3"/>
          <p:cNvSpPr/>
          <p:nvPr/>
        </p:nvSpPr>
        <p:spPr>
          <a:xfrm>
            <a:off x="4919400" y="20300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Prototip — 3 luni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4"/>
          <p:cNvSpPr/>
          <p:nvPr/>
        </p:nvSpPr>
        <p:spPr>
          <a:xfrm>
            <a:off x="4919400" y="23043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20 monumente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5"/>
          <p:cNvSpPr/>
          <p:nvPr/>
        </p:nvSpPr>
        <p:spPr>
          <a:xfrm>
            <a:off x="4754880" y="2788920"/>
            <a:ext cx="54360" cy="59400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4919400" y="28072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Pilot — 6 luni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7"/>
          <p:cNvSpPr/>
          <p:nvPr/>
        </p:nvSpPr>
        <p:spPr>
          <a:xfrm>
            <a:off x="4919400" y="30816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200 monumente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8"/>
          <p:cNvSpPr/>
          <p:nvPr/>
        </p:nvSpPr>
        <p:spPr>
          <a:xfrm>
            <a:off x="4754880" y="3566160"/>
            <a:ext cx="54360" cy="594000"/>
          </a:xfrm>
          <a:prstGeom prst="rect">
            <a:avLst/>
          </a:prstGeom>
          <a:solidFill>
            <a:srgbClr val="1d9e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9"/>
          <p:cNvSpPr/>
          <p:nvPr/>
        </p:nvSpPr>
        <p:spPr>
          <a:xfrm>
            <a:off x="4919400" y="35845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3e"/>
                </a:solidFill>
                <a:latin typeface="Calibri"/>
              </a:rPr>
              <a:t>Producție — 9 luni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0"/>
          <p:cNvSpPr/>
          <p:nvPr/>
        </p:nvSpPr>
        <p:spPr>
          <a:xfrm>
            <a:off x="4919400" y="38588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1.800 monumente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1"/>
          <p:cNvSpPr/>
          <p:nvPr/>
        </p:nvSpPr>
        <p:spPr>
          <a:xfrm>
            <a:off x="4754880" y="4343400"/>
            <a:ext cx="4023000" cy="63972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2"/>
          <p:cNvSpPr/>
          <p:nvPr/>
        </p:nvSpPr>
        <p:spPr>
          <a:xfrm>
            <a:off x="4754880" y="434340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Cost per monument: €925  |  Țintă: 2.000 monumente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3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</a:rPr>
              <a:t>eyemap.ai | Propunere Digitizare Patrimoniu 2025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1"/>
          <p:cNvSpPr/>
          <p:nvPr/>
        </p:nvSpPr>
        <p:spPr>
          <a:xfrm>
            <a:off x="0" y="5074920"/>
            <a:ext cx="9143640" cy="63720"/>
          </a:xfrm>
          <a:prstGeom prst="rect">
            <a:avLst/>
          </a:prstGeom>
          <a:solidFill>
            <a:srgbClr val="e8b8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De Ce Să Alegi Acest Program?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457200" y="1069920"/>
            <a:ext cx="273960" cy="2739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457200" y="10699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868680" y="96012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Bazat pe cercetare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868680" y="125280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Fondat pe doctorat la Universitatea Chalmers (2010–2016) și rezultate publicate peer-reviewed la Eurographics.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7"/>
          <p:cNvSpPr/>
          <p:nvPr/>
        </p:nvSpPr>
        <p:spPr>
          <a:xfrm>
            <a:off x="457200" y="1847160"/>
            <a:ext cx="273960" cy="2739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57200" y="18471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868680" y="173736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Capabilitate de teren dovedită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868680" y="203004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2 echipe de teren dedicate, echipamente LiDAR + fotogrametrie pregătite. Debit de 10–12 monumente/zi.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457200" y="2624400"/>
            <a:ext cx="273960" cy="2739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457200" y="2624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868680" y="251460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Ownership end-to-end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868680" y="280728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Scanăm, procesăm, curățăm, modelăm, găzduim și livrăm. Un contract, un interlocutor, zero externalizare.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457200" y="3401640"/>
            <a:ext cx="273960" cy="2739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457200" y="34016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868680" y="329184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Scară națională, expertiză locală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868680" y="358452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Conceput specific pentru tipologia monumentelor din România, teren și cerințele LMI.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457200" y="4178880"/>
            <a:ext cx="273960" cy="27396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20"/>
          <p:cNvSpPr/>
          <p:nvPr/>
        </p:nvSpPr>
        <p:spPr>
          <a:xfrm>
            <a:off x="457200" y="417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868680" y="406908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Prețuri transparente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868680" y="436176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Cost fix per scanare — fără surprize. De la €20 (obiecte mici) la €875 (monumente mari).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23"/>
          <p:cNvSpPr/>
          <p:nvPr/>
        </p:nvSpPr>
        <p:spPr>
          <a:xfrm>
            <a:off x="1828800" y="4617720"/>
            <a:ext cx="5486040" cy="411120"/>
          </a:xfrm>
          <a:prstGeom prst="rect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24"/>
          <p:cNvSpPr/>
          <p:nvPr/>
        </p:nvSpPr>
        <p:spPr>
          <a:xfrm>
            <a:off x="1828800" y="46177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Contact: eyemap.ai  |  Gata de start în 30 de zile de la semnarea contractului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LibreOffice/24.2.5.2$Windows_X86_64 LibreOffice_project/bffef4ea93e59bebbeaf7f431bb02b1a39ee8a59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2026-05-02T15:04:50Z</dcterms:created>
  <dc:creator>PptxGenJS</dc:creator>
  <dc:description/>
  <dc:language>en-US</dc:language>
  <cp:lastModifiedBy/>
  <dcterms:modified xsi:type="dcterms:W3CDTF">2026-05-03T01:24:24Z</dcterms:modified>
  <cp:revision>2</cp:revision>
  <dc:subject>PptxGenJS Presentation</dc:subject>
  <dc:title>Digitizare Patrimoniu National 3D — Propunere Ministerul Culturii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