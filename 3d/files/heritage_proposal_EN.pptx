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ZQuhXnyS1F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B86D"/>
          </a:solidFill>
          <a:ln/>
        </p:spPr>
      </p:sp>
      <p:pic>
        <p:nvPicPr>
          <p:cNvPr id="4" name="Image 0" descr="/home/claude/lidar_scan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3474720" y="73152"/>
            <a:ext cx="5669280" cy="5001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3152"/>
            <a:ext cx="5029200" cy="5001768"/>
          </a:xfrm>
          <a:prstGeom prst="rect">
            <a:avLst/>
          </a:prstGeom>
          <a:solidFill>
            <a:srgbClr val="0D1B3E">
              <a:alpha val="8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20040"/>
            <a:ext cx="2194560" cy="347472"/>
          </a:xfrm>
          <a:prstGeom prst="rect">
            <a:avLst>
              <a:gd name="adj" fmla="val 13158"/>
            </a:avLst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0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MINISTRY OF CULTURE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Heritage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Program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11480" y="2468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3D scanning, processing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web-based delivery at national scale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3474720"/>
            <a:ext cx="1325880" cy="822960"/>
          </a:xfrm>
          <a:prstGeom prst="rect">
            <a:avLst>
              <a:gd name="adj" fmla="val 8889"/>
            </a:avLst>
          </a:prstGeom>
          <a:solidFill>
            <a:srgbClr val="007A6E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3520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6D"/>
                </a:solidFill>
              </a:rPr>
              <a:t>2,000+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480" y="38862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monuments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20240" y="3474720"/>
            <a:ext cx="1325880" cy="822960"/>
          </a:xfrm>
          <a:prstGeom prst="rect">
            <a:avLst>
              <a:gd name="adj" fmla="val 8889"/>
            </a:avLst>
          </a:prstGeom>
          <a:solidFill>
            <a:srgbClr val="007A6E"/>
          </a:solidFill>
          <a:ln/>
        </p:spPr>
      </p:sp>
      <p:sp>
        <p:nvSpPr>
          <p:cNvPr id="14" name="Text 11"/>
          <p:cNvSpPr/>
          <p:nvPr/>
        </p:nvSpPr>
        <p:spPr>
          <a:xfrm>
            <a:off x="1920240" y="3520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6D"/>
                </a:solidFill>
              </a:rPr>
              <a:t>€925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920240" y="38862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per scan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29000" y="3474720"/>
            <a:ext cx="1325880" cy="822960"/>
          </a:xfrm>
          <a:prstGeom prst="rect">
            <a:avLst>
              <a:gd name="adj" fmla="val 8889"/>
            </a:avLst>
          </a:prstGeom>
          <a:solidFill>
            <a:srgbClr val="007A6E"/>
          </a:solidFill>
          <a:ln/>
        </p:spPr>
      </p:sp>
      <p:sp>
        <p:nvSpPr>
          <p:cNvPr id="17" name="Text 14"/>
          <p:cNvSpPr/>
          <p:nvPr/>
        </p:nvSpPr>
        <p:spPr>
          <a:xfrm>
            <a:off x="3429000" y="3520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6D"/>
                </a:solidFill>
              </a:rPr>
              <a:t>18 mo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429000" y="38862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delivery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148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eyemap.ai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Research-Driven Expertise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decade of academic and applied research in 3D digitization, our platform bridges heritage science and scalable technology.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64008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PhD Research, 2010–2016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Chalmers University of Technology, Gothenburg, Sweden — DIVA Project (CRS4 / Chalmers). Focus: 3D reconstruction, interactive visualization and low-cost scanning setups.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64008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Published Research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"Low-cost Experimental Setups for Mid-air 3D Reconstruction" — Eurographics 2015. Scanned a 23m statue using an octocopter drone and open-source libraries.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03904"/>
            <a:ext cx="64008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Applied Platform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0599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Eyemap.ai — scalable Potree-based 3D viewer, field-proven on real monuments in Romania.</a:t>
            </a:r>
            <a:endParaRPr lang="en-US" sz="1000" dirty="0"/>
          </a:p>
        </p:txBody>
      </p:sp>
      <p:pic>
        <p:nvPicPr>
          <p:cNvPr id="14" name="Image 0" descr="/home/claude/viewer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822960"/>
            <a:ext cx="4114800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663440" y="822960"/>
            <a:ext cx="4114800" cy="3200400"/>
          </a:xfrm>
          <a:prstGeom prst="rect">
            <a:avLst/>
          </a:prstGeom>
          <a:solidFill>
            <a:srgbClr val="0D1B3E">
              <a:alpha val="10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Live 3D Viewer — eyemap.ai platform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eyemap.ai | Heritage Digitization Proposal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Academic Foundation — Published Research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474720"/>
          </a:xfrm>
          <a:prstGeom prst="rect">
            <a:avLst>
              <a:gd name="adj" fmla="val 2632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54864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B86D"/>
                </a:solidFill>
              </a:rPr>
              <a:t>EUROGRAPHICS 2015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Low-cost Experimental Setups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for Mid-air 3D Reconstruction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Dancu, Fratarcangeli, Fourgeaud, Franjcic,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Chindea, Fjeld  —  The Eurographics Association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8E8"/>
                </a:solidFill>
              </a:rPr>
              <a:t>Key result: scanned and reconstructed a 23m high statue using an octocopter drone, off-the-shelf embedded components and open-source libraries — zero external hardware.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DOI: 10.2312/stag.20151286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DIVA Project, CRS4 — Chalmers Univ. of Technology, Gothenburg, Sweden  |  2010–2016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23360" cy="2560320"/>
          </a:xfrm>
          <a:prstGeom prst="rect">
            <a:avLst>
              <a:gd name="adj" fmla="val 3571"/>
            </a:avLst>
          </a:prstGeom>
          <a:solidFill>
            <a:srgbClr val="11182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737360"/>
            <a:ext cx="731520" cy="73152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▶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Watch Demo</a:t>
            </a:r>
            <a:endParaRPr lang="en-US" sz="1100" dirty="0"/>
          </a:p>
        </p:txBody>
      </p:sp>
      <p:sp>
        <p:nvSpPr>
          <p:cNvPr id="16" name="Text 14">
            <a:hlinkClick r:id="rId1" tooltip=""/>
          </p:cNvPr>
          <p:cNvSpPr/>
          <p:nvPr/>
        </p:nvSpPr>
        <p:spPr>
          <a:xfrm>
            <a:off x="4754880" y="3063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u="sng" dirty="0">
                <a:solidFill>
                  <a:srgbClr val="00A89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youtu.be/ZQuhXnyS1Fw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Mid-air 3D reconstruction using depth 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+ octocopter drone — Eurographics 2015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4114800"/>
            <a:ext cx="4023360" cy="502920"/>
          </a:xfrm>
          <a:prstGeom prst="rect">
            <a:avLst>
              <a:gd name="adj" fmla="val 14545"/>
            </a:avLst>
          </a:prstGeom>
          <a:solidFill>
            <a:srgbClr val="007A6E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114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DIVA Project — CRS4 / Chalmers University of Technology, Gothenburg 2010–2016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eyemap.ai | Heritage Digitization Proposal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Scan Types &amp; Pricing per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price includes capture, processing/cleanup, QA and delivery to the visualization platform.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3474720"/>
          </a:xfrm>
          <a:prstGeom prst="rect">
            <a:avLst>
              <a:gd name="adj" fmla="val 4545"/>
            </a:avLst>
          </a:prstGeom>
          <a:solidFill>
            <a:srgbClr val="FDECE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2011680" cy="502920"/>
          </a:xfrm>
          <a:prstGeom prst="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481328"/>
            <a:ext cx="201168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Large monuments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Buildings, sites, outdoor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Drone LiDAR + photogrammetry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Capture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€500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€250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€125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13048"/>
            <a:ext cx="182880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TOTAL / SCAN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€875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441448" y="1234440"/>
            <a:ext cx="2011680" cy="3474720"/>
          </a:xfrm>
          <a:prstGeom prst="rect">
            <a:avLst>
              <a:gd name="adj" fmla="val 4545"/>
            </a:avLst>
          </a:prstGeom>
          <a:solidFill>
            <a:srgbClr val="E8F8F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1448" y="1234440"/>
            <a:ext cx="2011680" cy="502920"/>
          </a:xfrm>
          <a:prstGeom prst="rect">
            <a:avLst>
              <a:gd name="adj" fmla="val 18182"/>
            </a:avLst>
          </a:prstGeom>
          <a:solidFill>
            <a:srgbClr val="1D9E75"/>
          </a:solidFill>
          <a:ln/>
        </p:spPr>
      </p:sp>
      <p:sp>
        <p:nvSpPr>
          <p:cNvPr id="23" name="Shape 21"/>
          <p:cNvSpPr/>
          <p:nvPr/>
        </p:nvSpPr>
        <p:spPr>
          <a:xfrm>
            <a:off x="2441448" y="1481328"/>
            <a:ext cx="2011680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4" name="Text 22"/>
          <p:cNvSpPr/>
          <p:nvPr/>
        </p:nvSpPr>
        <p:spPr>
          <a:xfrm>
            <a:off x="2441448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 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14600" y="1828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Small objects (&lt;1m)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Vases, artefacts, museum pieces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Studio turntable, automated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32888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Capture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47288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32888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47288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32888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47288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32888" y="3813048"/>
            <a:ext cx="1828800" cy="1828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5" name="Text 33"/>
          <p:cNvSpPr/>
          <p:nvPr/>
        </p:nvSpPr>
        <p:spPr>
          <a:xfrm>
            <a:off x="2532888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TOTAL / SCAN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72968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9E75"/>
                </a:solidFill>
              </a:rPr>
              <a:t>€20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08576" y="1234440"/>
            <a:ext cx="2011680" cy="3474720"/>
          </a:xfrm>
          <a:prstGeom prst="rect">
            <a:avLst>
              <a:gd name="adj" fmla="val 4545"/>
            </a:avLst>
          </a:prstGeom>
          <a:solidFill>
            <a:srgbClr val="FEF9EC"/>
          </a:solidFill>
          <a:ln/>
        </p:spPr>
      </p:sp>
      <p:sp>
        <p:nvSpPr>
          <p:cNvPr id="38" name="Shape 36"/>
          <p:cNvSpPr/>
          <p:nvPr/>
        </p:nvSpPr>
        <p:spPr>
          <a:xfrm>
            <a:off x="4608576" y="1234440"/>
            <a:ext cx="2011680" cy="502920"/>
          </a:xfrm>
          <a:prstGeom prst="rect">
            <a:avLst>
              <a:gd name="adj" fmla="val 18182"/>
            </a:avLst>
          </a:prstGeom>
          <a:solidFill>
            <a:srgbClr val="BA7517"/>
          </a:solidFill>
          <a:ln/>
        </p:spPr>
      </p:sp>
      <p:sp>
        <p:nvSpPr>
          <p:cNvPr id="39" name="Shape 37"/>
          <p:cNvSpPr/>
          <p:nvPr/>
        </p:nvSpPr>
        <p:spPr>
          <a:xfrm>
            <a:off x="4608576" y="1481328"/>
            <a:ext cx="2011680" cy="25603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40" name="Text 38"/>
          <p:cNvSpPr/>
          <p:nvPr/>
        </p:nvSpPr>
        <p:spPr>
          <a:xfrm>
            <a:off x="4608576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 C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81728" y="1828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Human-size (1–2m)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81728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Statues, busts, equipment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81728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Indoor/outdoor scan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0016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Capture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14416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€40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0016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14416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€50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0016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14416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€20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0016" y="3813048"/>
            <a:ext cx="1828800" cy="1828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51" name="Text 49"/>
          <p:cNvSpPr/>
          <p:nvPr/>
        </p:nvSpPr>
        <p:spPr>
          <a:xfrm>
            <a:off x="4700016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TOTAL / SCAN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40096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A7517"/>
                </a:solidFill>
              </a:rPr>
              <a:t>€110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775704" y="1234440"/>
            <a:ext cx="2011680" cy="3474720"/>
          </a:xfrm>
          <a:prstGeom prst="rect">
            <a:avLst>
              <a:gd name="adj" fmla="val 4545"/>
            </a:avLst>
          </a:prstGeom>
          <a:solidFill>
            <a:srgbClr val="EAF3FB"/>
          </a:solidFill>
          <a:ln/>
        </p:spPr>
      </p:sp>
      <p:sp>
        <p:nvSpPr>
          <p:cNvPr id="54" name="Shape 52"/>
          <p:cNvSpPr/>
          <p:nvPr/>
        </p:nvSpPr>
        <p:spPr>
          <a:xfrm>
            <a:off x="6775704" y="1234440"/>
            <a:ext cx="2011680" cy="502920"/>
          </a:xfrm>
          <a:prstGeom prst="rect">
            <a:avLst>
              <a:gd name="adj" fmla="val 18182"/>
            </a:avLst>
          </a:prstGeom>
          <a:solidFill>
            <a:srgbClr val="185FA5"/>
          </a:solidFill>
          <a:ln/>
        </p:spPr>
      </p:sp>
      <p:sp>
        <p:nvSpPr>
          <p:cNvPr id="55" name="Shape 53"/>
          <p:cNvSpPr/>
          <p:nvPr/>
        </p:nvSpPr>
        <p:spPr>
          <a:xfrm>
            <a:off x="6775704" y="1481328"/>
            <a:ext cx="2011680" cy="25603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6" name="Text 54"/>
          <p:cNvSpPr/>
          <p:nvPr/>
        </p:nvSpPr>
        <p:spPr>
          <a:xfrm>
            <a:off x="6775704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 D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848856" y="1828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Medium statues (&lt;5m)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48856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Monuments, outdoor sculptures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48856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Ground + small drone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67144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Capture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81544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€120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67144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81544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€100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867144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QA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781544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€30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67144" y="3813048"/>
            <a:ext cx="1828800" cy="1828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67" name="Text 65"/>
          <p:cNvSpPr/>
          <p:nvPr/>
        </p:nvSpPr>
        <p:spPr>
          <a:xfrm>
            <a:off x="6867144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TOTAL / SCAN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507224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5FA5"/>
                </a:solidFill>
              </a:rPr>
              <a:t>€250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eyemap.ai | Heritage Digitization Proposal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Visualization Platform &amp;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6D"/>
                </a:solidFill>
              </a:rPr>
              <a:t>Beyond scanning — a complete delivery ecosystem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" cy="2286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Potree-based 3D viewer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Web &amp; mobile, no plugins required. Point clouds up to 1B+ points rendered in real-time.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28600" cy="2286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cleanup &amp; mesh generation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Full pipeline: noise removal, decimation, UV mapping, texture baking.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28600" cy="2286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43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Cloudflare R2 + CDN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Global edge delivery. 3-year infrastructure included. €5,000 total.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228600" cy="2286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29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Metadata &amp; catalogue system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703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Each model tagged with GPS coordinates, type, era, condition — searchable national inventory.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228600" cy="2286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14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XR / AR export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Every model exportable to GLTF/GLB for augmented reality and museum kiosks.</a:t>
            </a:r>
            <a:endParaRPr lang="en-US" sz="1000" dirty="0"/>
          </a:p>
        </p:txBody>
      </p:sp>
      <p:pic>
        <p:nvPicPr>
          <p:cNvPr id="20" name="Image 0" descr="/home/claude/viewer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777240"/>
            <a:ext cx="3931920" cy="3017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846320" y="777240"/>
            <a:ext cx="3931920" cy="3017520"/>
          </a:xfrm>
          <a:prstGeom prst="rect">
            <a:avLst/>
          </a:prstGeom>
          <a:solidFill>
            <a:srgbClr val="0D1B3E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Eyemap.ai — live monument 3D viewer demo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46320" y="4206240"/>
            <a:ext cx="3931920" cy="822960"/>
          </a:xfrm>
          <a:prstGeom prst="rect">
            <a:avLst>
              <a:gd name="adj" fmla="val 11111"/>
            </a:avLst>
          </a:prstGeom>
          <a:solidFill>
            <a:srgbClr val="007A6E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Visualization package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37760" y="45262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Included in scan fee + €90,000 platform dev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Infrastructure 3 yr: €5,000  |  CDN global delivery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eyemap.ai | Heritage Digitization Proposal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idar_scan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Type A — Aerial LiDAR Scan Demo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</a:rPr>
              <a:t>Point cloud captured at monumente.vercel.app/examples/viewer.html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3840480"/>
            <a:ext cx="9144000" cy="1298448"/>
          </a:xfrm>
          <a:prstGeom prst="rect">
            <a:avLst/>
          </a:prstGeom>
          <a:solidFill>
            <a:srgbClr val="0D1B3E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Sensor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Drone LiDAR + RGB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84832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Coverage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84832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site + context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03904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Point density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03904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&gt;50 pts/m²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22976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Processing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22976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Potree-ready output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42048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Delivery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242048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Web viewer, no plugin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Based on research conducted at Chalmers University of Technology, Gothenburg — DIVA Project 2010–2016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Quality, Expertise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600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Mixed LiDAR + Photogrammetry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Ground LiDAR for precise geometry, drone photogrammetry for texture and context. Every model cross-validated.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73152" cy="16002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Industrial throughput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field teams: 10–12 monuments/day. Studio pipeline: 50–150 small objects/day. 2,000 monuments in 18 months.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960120"/>
            <a:ext cx="269748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960120"/>
            <a:ext cx="73152" cy="1600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PhD-level processing chain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14630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Every model undergoes: noise removal → registration → mesh → texture bake → LOD → Potree conversion → QA sign-off.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69748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43200"/>
            <a:ext cx="73152" cy="1600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8529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National-scale infrastructure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246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Cloudflare R2 + CDN. 3-year SLA. Sub-second load times globally. Mobile-ready. No plugin required.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743200"/>
            <a:ext cx="269748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743200"/>
            <a:ext cx="73152" cy="16002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8529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Open standards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Output: LAS/LAZ, PLY, OBJ, GLTF/GLB, Potree octree. No vendor lock-in. Interoperable with GIS systems.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2743200"/>
            <a:ext cx="269748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2743200"/>
            <a:ext cx="73152" cy="1600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28529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Documented provenance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3246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GPS-tagged, date-stamped, condition-logged. Feeds directly into Romania's national monument register (LMI).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eyemap.ai | Heritage Digitization Proposal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Project Budget &amp; Timeline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1148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 (scanning)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&amp;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Accommodation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diem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(3 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18-Month Delivery Plan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1417320"/>
            <a:ext cx="1325880" cy="4572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4"/>
          <p:cNvSpPr/>
          <p:nvPr/>
        </p:nvSpPr>
        <p:spPr>
          <a:xfrm>
            <a:off x="480060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Prototype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0060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3 months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17830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Pilot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72200" y="1645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6 months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955280" y="1417320"/>
            <a:ext cx="361188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01000" y="1645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9 months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54880" y="2011680"/>
            <a:ext cx="54864" cy="5943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6" name="Text 13"/>
          <p:cNvSpPr/>
          <p:nvPr/>
        </p:nvSpPr>
        <p:spPr>
          <a:xfrm>
            <a:off x="4919472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Prototype — 3 months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9472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 monuments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788920"/>
            <a:ext cx="54864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4919472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Pilot — 6 months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19472" y="3081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 monuments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3566160"/>
            <a:ext cx="54864" cy="5943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19"/>
          <p:cNvSpPr/>
          <p:nvPr/>
        </p:nvSpPr>
        <p:spPr>
          <a:xfrm>
            <a:off x="4919472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Production — 9 months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19472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1,800 monuments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4343400"/>
            <a:ext cx="4023360" cy="640080"/>
          </a:xfrm>
          <a:prstGeom prst="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43434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 per monument: €925  |  Target: 2,000 monuments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eyemap.ai | Heritage Digitization Proposal 2025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Choose This Program?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274320" cy="27432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9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Research-backed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527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Founded on PhD research at Chalmers University of Technology (2010–2016) and published Eurographics peer-reviewed results.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274320" cy="27432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47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737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Proven field capability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0299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2 dedicated field teams, LiDAR + photogrammetry equipment ready. 10–12 monuments/day throughput.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274320" cy="27432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24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End-to-end ownership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8072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We scan, process, clean, model, host and deliver. One contract, one point of contact, zero outsourcing.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274320" cy="27432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01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National scale, local expertise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5844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Designed specifically for Romania's monument typology, terrain and LMI requirements.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78808"/>
            <a:ext cx="274320" cy="27432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Transparent pricing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3616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Fixed cost per scan — no surprises. From €20 (small objects) to €875 (large monuments).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617720"/>
            <a:ext cx="5486400" cy="411480"/>
          </a:xfrm>
          <a:prstGeom prst="rect">
            <a:avLst>
              <a:gd name="adj" fmla="val 22222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0" y="4617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Contact: eyemap.ai  |  Ready to begin within 30 days of contract signing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Heritage Digitization — Ministry of Culture Proposal</dc:title>
  <dc:subject>PptxGenJS Presentation</dc:subject>
  <dc:creator>PptxGenJS</dc:creator>
  <cp:lastModifiedBy>PptxGenJS</cp:lastModifiedBy>
  <cp:revision>1</cp:revision>
  <dcterms:created xsi:type="dcterms:W3CDTF">2026-05-02T15:02:42Z</dcterms:created>
  <dcterms:modified xsi:type="dcterms:W3CDTF">2026-05-02T15:02:42Z</dcterms:modified>
</cp:coreProperties>
</file>